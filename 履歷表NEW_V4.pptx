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7556500" cy="10693400"/>
  <p:notesSz cx="6858000" cy="9144000"/>
  <p:embeddedFontLst>
    <p:embeddedFont>
      <p:font typeface="標楷體" panose="03000509000000000000" pitchFamily="65" charset="-12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70C0"/>
    <a:srgbClr val="FCF9F2"/>
    <a:srgbClr val="F9F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17" autoAdjust="0"/>
    <p:restoredTop sz="93995" autoAdjust="0"/>
  </p:normalViewPr>
  <p:slideViewPr>
    <p:cSldViewPr>
      <p:cViewPr>
        <p:scale>
          <a:sx n="100" d="100"/>
          <a:sy n="100" d="100"/>
        </p:scale>
        <p:origin x="1723" y="-1243"/>
      </p:cViewPr>
      <p:guideLst>
        <p:guide orient="horz" pos="2160"/>
        <p:guide pos="1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09D55-2AC1-492C-A876-0E70483C7D2C}" type="datetimeFigureOut">
              <a:rPr lang="zh-TW" altLang="en-US" smtClean="0"/>
              <a:t>2026/6/4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0FDE6-B35C-4FAB-8B3E-3A640929BF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3977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10FDE6-B35C-4FAB-8B3E-3A640929BF7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0499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方塊 22">
            <a:extLst>
              <a:ext uri="{FF2B5EF4-FFF2-40B4-BE49-F238E27FC236}">
                <a16:creationId xmlns:a16="http://schemas.microsoft.com/office/drawing/2014/main" id="{D8084306-6A6B-D9A1-17AF-4BC86FCBCAFC}"/>
              </a:ext>
            </a:extLst>
          </p:cNvPr>
          <p:cNvSpPr txBox="1"/>
          <p:nvPr/>
        </p:nvSpPr>
        <p:spPr>
          <a:xfrm>
            <a:off x="3209094" y="4539565"/>
            <a:ext cx="4294543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TW" altLang="en-US" sz="1200" b="1" dirty="0">
                <a:ea typeface="標楷體" panose="03000509000000000000" pitchFamily="65" charset="-120"/>
              </a:rPr>
              <a:t>台灣行銷研究有限公司</a:t>
            </a:r>
            <a:r>
              <a:rPr lang="en-US" altLang="zh-TW" sz="1200" b="1" dirty="0">
                <a:ea typeface="標楷體" panose="03000509000000000000" pitchFamily="65" charset="-120"/>
              </a:rPr>
              <a:t>(TMR) </a:t>
            </a:r>
            <a:r>
              <a:rPr lang="zh-TW" altLang="en-US" sz="1200" b="1" dirty="0">
                <a:ea typeface="標楷體" panose="03000509000000000000" pitchFamily="65" charset="-120"/>
              </a:rPr>
              <a:t>行銷資料科學分析實習生 </a:t>
            </a:r>
            <a:r>
              <a:rPr lang="en-US" altLang="zh-TW" sz="1200" dirty="0">
                <a:ea typeface="標楷體" panose="03000509000000000000" pitchFamily="65" charset="-120"/>
              </a:rPr>
              <a:t>2024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dirty="0">
                <a:ea typeface="標楷體" panose="03000509000000000000" pitchFamily="65" charset="-120"/>
              </a:rPr>
              <a:t>參與行銷資料前處理、特徵工程、模型建立、視覺化分析與結果解讀等流程。</a:t>
            </a:r>
            <a:endParaRPr lang="en-US" altLang="zh-TW" sz="1200" dirty="0">
              <a:ea typeface="標楷體" panose="03000509000000000000" pitchFamily="65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dirty="0">
                <a:ea typeface="標楷體" panose="03000509000000000000" pitchFamily="65" charset="-120"/>
              </a:rPr>
              <a:t>透過實際專案，學習運用</a:t>
            </a:r>
            <a:r>
              <a:rPr lang="en-US" altLang="zh-TW" sz="1200" dirty="0">
                <a:ea typeface="標楷體" panose="03000509000000000000" pitchFamily="65" charset="-120"/>
              </a:rPr>
              <a:t>Python</a:t>
            </a:r>
            <a:r>
              <a:rPr lang="zh-TW" altLang="en-US" sz="1200" dirty="0">
                <a:ea typeface="標楷體" panose="03000509000000000000" pitchFamily="65" charset="-120"/>
              </a:rPr>
              <a:t>、</a:t>
            </a:r>
            <a:r>
              <a:rPr lang="en-US" altLang="zh-TW" sz="1200" dirty="0">
                <a:ea typeface="標楷體" panose="03000509000000000000" pitchFamily="65" charset="-120"/>
              </a:rPr>
              <a:t>R</a:t>
            </a:r>
            <a:r>
              <a:rPr lang="zh-TW" altLang="en-US" sz="1200" dirty="0">
                <a:ea typeface="標楷體" panose="03000509000000000000" pitchFamily="65" charset="-120"/>
              </a:rPr>
              <a:t>、</a:t>
            </a:r>
            <a:r>
              <a:rPr lang="en-US" altLang="zh-TW" sz="1200" dirty="0">
                <a:ea typeface="標楷體" panose="03000509000000000000" pitchFamily="65" charset="-120"/>
              </a:rPr>
              <a:t>Matplotlib</a:t>
            </a:r>
            <a:r>
              <a:rPr lang="zh-TW" altLang="en-US" sz="1200" dirty="0">
                <a:ea typeface="標楷體" panose="03000509000000000000" pitchFamily="65" charset="-120"/>
              </a:rPr>
              <a:t>、</a:t>
            </a:r>
            <a:r>
              <a:rPr lang="en-US" altLang="zh-TW" sz="1200" dirty="0" err="1">
                <a:ea typeface="標楷體" panose="03000509000000000000" pitchFamily="65" charset="-120"/>
              </a:rPr>
              <a:t>Streamlit</a:t>
            </a:r>
            <a:r>
              <a:rPr lang="zh-TW" altLang="en-US" sz="1200" dirty="0">
                <a:ea typeface="標楷體" panose="03000509000000000000" pitchFamily="65" charset="-120"/>
              </a:rPr>
              <a:t>與機器學習方法，進行行銷資料分析與商業決策。</a:t>
            </a:r>
            <a:endParaRPr lang="en-US" altLang="zh-TW" sz="1200" dirty="0">
              <a:ea typeface="標楷體" panose="03000509000000000000" pitchFamily="65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dirty="0">
                <a:ea typeface="標楷體" panose="03000509000000000000" pitchFamily="65" charset="-120"/>
              </a:rPr>
              <a:t>此實習強化了我的資料分析與模型實作能力，並培養我從問題定義、資料蒐集、分析建模到結果應用的完整資料科學思維。</a:t>
            </a:r>
            <a:endParaRPr lang="en-US" altLang="zh-TW" sz="1200" dirty="0">
              <a:ea typeface="標楷體" panose="03000509000000000000" pitchFamily="65" charset="-120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0" y="0"/>
            <a:ext cx="7560000" cy="618611"/>
          </a:xfrm>
          <a:prstGeom prst="rect">
            <a:avLst/>
          </a:prstGeom>
          <a:solidFill>
            <a:srgbClr val="F0CFC3"/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373496" y="2305366"/>
            <a:ext cx="127601" cy="115480"/>
            <a:chOff x="0" y="0"/>
            <a:chExt cx="173990" cy="1893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863" cy="189357"/>
            </a:xfrm>
            <a:custGeom>
              <a:avLst/>
              <a:gdLst/>
              <a:ahLst/>
              <a:cxnLst/>
              <a:rect l="l" t="t" r="r" b="b"/>
              <a:pathLst>
                <a:path w="173863" h="189357">
                  <a:moveTo>
                    <a:pt x="65278" y="55626"/>
                  </a:moveTo>
                  <a:cubicBezTo>
                    <a:pt x="75565" y="43561"/>
                    <a:pt x="64389" y="27813"/>
                    <a:pt x="57404" y="17018"/>
                  </a:cubicBezTo>
                  <a:cubicBezTo>
                    <a:pt x="53467" y="10795"/>
                    <a:pt x="47752" y="1905"/>
                    <a:pt x="39624" y="889"/>
                  </a:cubicBezTo>
                  <a:cubicBezTo>
                    <a:pt x="32004" y="0"/>
                    <a:pt x="25019" y="8509"/>
                    <a:pt x="19939" y="13208"/>
                  </a:cubicBezTo>
                  <a:cubicBezTo>
                    <a:pt x="7747" y="24384"/>
                    <a:pt x="889" y="38862"/>
                    <a:pt x="127" y="55372"/>
                  </a:cubicBezTo>
                  <a:cubicBezTo>
                    <a:pt x="254" y="57277"/>
                    <a:pt x="254" y="60325"/>
                    <a:pt x="0" y="57531"/>
                  </a:cubicBezTo>
                  <a:cubicBezTo>
                    <a:pt x="1270" y="67437"/>
                    <a:pt x="2286" y="76835"/>
                    <a:pt x="5842" y="86233"/>
                  </a:cubicBezTo>
                  <a:cubicBezTo>
                    <a:pt x="9017" y="95123"/>
                    <a:pt x="13462" y="103251"/>
                    <a:pt x="18542" y="111125"/>
                  </a:cubicBezTo>
                  <a:cubicBezTo>
                    <a:pt x="29464" y="127635"/>
                    <a:pt x="42164" y="143637"/>
                    <a:pt x="57150" y="156845"/>
                  </a:cubicBezTo>
                  <a:cubicBezTo>
                    <a:pt x="71755" y="169799"/>
                    <a:pt x="88265" y="181483"/>
                    <a:pt x="107696" y="185674"/>
                  </a:cubicBezTo>
                  <a:cubicBezTo>
                    <a:pt x="125984" y="189357"/>
                    <a:pt x="143891" y="185547"/>
                    <a:pt x="158242" y="173609"/>
                  </a:cubicBezTo>
                  <a:cubicBezTo>
                    <a:pt x="163449" y="169291"/>
                    <a:pt x="173101" y="163195"/>
                    <a:pt x="173482" y="155702"/>
                  </a:cubicBezTo>
                  <a:cubicBezTo>
                    <a:pt x="173863" y="148209"/>
                    <a:pt x="167894" y="142240"/>
                    <a:pt x="162814" y="137795"/>
                  </a:cubicBezTo>
                  <a:cubicBezTo>
                    <a:pt x="151892" y="128016"/>
                    <a:pt x="135890" y="111887"/>
                    <a:pt x="121158" y="123698"/>
                  </a:cubicBezTo>
                  <a:cubicBezTo>
                    <a:pt x="115443" y="128397"/>
                    <a:pt x="109347" y="137160"/>
                    <a:pt x="101600" y="138430"/>
                  </a:cubicBezTo>
                  <a:cubicBezTo>
                    <a:pt x="93853" y="139700"/>
                    <a:pt x="86487" y="134112"/>
                    <a:pt x="81026" y="129667"/>
                  </a:cubicBezTo>
                  <a:cubicBezTo>
                    <a:pt x="68707" y="119634"/>
                    <a:pt x="56515" y="105918"/>
                    <a:pt x="49276" y="91567"/>
                  </a:cubicBezTo>
                  <a:cubicBezTo>
                    <a:pt x="46228" y="85217"/>
                    <a:pt x="43434" y="76962"/>
                    <a:pt x="48006" y="70612"/>
                  </a:cubicBezTo>
                  <a:cubicBezTo>
                    <a:pt x="52578" y="64389"/>
                    <a:pt x="60325" y="61468"/>
                    <a:pt x="65278" y="55499"/>
                  </a:cubicBezTo>
                </a:path>
              </a:pathLst>
            </a:custGeom>
            <a:solidFill>
              <a:srgbClr val="241D19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365071" y="2610264"/>
            <a:ext cx="125184" cy="81777"/>
            <a:chOff x="0" y="0"/>
            <a:chExt cx="170688" cy="1340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0688" cy="134112"/>
            </a:xfrm>
            <a:custGeom>
              <a:avLst/>
              <a:gdLst/>
              <a:ahLst/>
              <a:cxnLst/>
              <a:rect l="l" t="t" r="r" b="b"/>
              <a:pathLst>
                <a:path w="170688" h="134112">
                  <a:moveTo>
                    <a:pt x="16383" y="41275"/>
                  </a:moveTo>
                  <a:cubicBezTo>
                    <a:pt x="18542" y="42799"/>
                    <a:pt x="25019" y="47371"/>
                    <a:pt x="35941" y="54864"/>
                  </a:cubicBezTo>
                  <a:cubicBezTo>
                    <a:pt x="41783" y="58928"/>
                    <a:pt x="46863" y="62484"/>
                    <a:pt x="51308" y="65532"/>
                  </a:cubicBezTo>
                  <a:cubicBezTo>
                    <a:pt x="54991" y="68199"/>
                    <a:pt x="58293" y="70358"/>
                    <a:pt x="60960" y="72263"/>
                  </a:cubicBezTo>
                  <a:cubicBezTo>
                    <a:pt x="61214" y="72517"/>
                    <a:pt x="61722" y="72771"/>
                    <a:pt x="62357" y="73279"/>
                  </a:cubicBezTo>
                  <a:cubicBezTo>
                    <a:pt x="62992" y="73787"/>
                    <a:pt x="63881" y="74422"/>
                    <a:pt x="65024" y="75184"/>
                  </a:cubicBezTo>
                  <a:cubicBezTo>
                    <a:pt x="67056" y="76708"/>
                    <a:pt x="68834" y="77851"/>
                    <a:pt x="70104" y="78867"/>
                  </a:cubicBezTo>
                  <a:cubicBezTo>
                    <a:pt x="71374" y="79883"/>
                    <a:pt x="73152" y="80772"/>
                    <a:pt x="75057" y="81915"/>
                  </a:cubicBezTo>
                  <a:cubicBezTo>
                    <a:pt x="76962" y="83058"/>
                    <a:pt x="78867" y="83947"/>
                    <a:pt x="80518" y="84455"/>
                  </a:cubicBezTo>
                  <a:cubicBezTo>
                    <a:pt x="82169" y="84963"/>
                    <a:pt x="83820" y="85344"/>
                    <a:pt x="85217" y="85344"/>
                  </a:cubicBezTo>
                  <a:lnTo>
                    <a:pt x="85471" y="85344"/>
                  </a:lnTo>
                  <a:cubicBezTo>
                    <a:pt x="86868" y="85344"/>
                    <a:pt x="88519" y="85090"/>
                    <a:pt x="90170" y="84455"/>
                  </a:cubicBezTo>
                  <a:cubicBezTo>
                    <a:pt x="91821" y="83820"/>
                    <a:pt x="93726" y="83058"/>
                    <a:pt x="95631" y="81915"/>
                  </a:cubicBezTo>
                  <a:cubicBezTo>
                    <a:pt x="97536" y="80772"/>
                    <a:pt x="99187" y="79756"/>
                    <a:pt x="100584" y="78867"/>
                  </a:cubicBezTo>
                  <a:cubicBezTo>
                    <a:pt x="101981" y="77978"/>
                    <a:pt x="103632" y="76708"/>
                    <a:pt x="105791" y="75184"/>
                  </a:cubicBezTo>
                  <a:cubicBezTo>
                    <a:pt x="106807" y="74422"/>
                    <a:pt x="107696" y="73787"/>
                    <a:pt x="108458" y="73279"/>
                  </a:cubicBezTo>
                  <a:cubicBezTo>
                    <a:pt x="109220" y="72771"/>
                    <a:pt x="109601" y="72517"/>
                    <a:pt x="109855" y="72263"/>
                  </a:cubicBezTo>
                  <a:cubicBezTo>
                    <a:pt x="111887" y="70866"/>
                    <a:pt x="115189" y="68580"/>
                    <a:pt x="119507" y="65532"/>
                  </a:cubicBezTo>
                  <a:cubicBezTo>
                    <a:pt x="127381" y="60071"/>
                    <a:pt x="139065" y="51943"/>
                    <a:pt x="154432" y="41275"/>
                  </a:cubicBezTo>
                  <a:cubicBezTo>
                    <a:pt x="159004" y="37973"/>
                    <a:pt x="162941" y="34163"/>
                    <a:pt x="165989" y="29591"/>
                  </a:cubicBezTo>
                  <a:cubicBezTo>
                    <a:pt x="169037" y="25019"/>
                    <a:pt x="170688" y="20193"/>
                    <a:pt x="170688" y="15240"/>
                  </a:cubicBezTo>
                  <a:cubicBezTo>
                    <a:pt x="170688" y="11049"/>
                    <a:pt x="169164" y="7493"/>
                    <a:pt x="166116" y="4445"/>
                  </a:cubicBezTo>
                  <a:cubicBezTo>
                    <a:pt x="163068" y="1397"/>
                    <a:pt x="159639" y="0"/>
                    <a:pt x="155448" y="0"/>
                  </a:cubicBezTo>
                  <a:lnTo>
                    <a:pt x="15240" y="0"/>
                  </a:lnTo>
                  <a:cubicBezTo>
                    <a:pt x="10414" y="0"/>
                    <a:pt x="6604" y="1651"/>
                    <a:pt x="3937" y="4953"/>
                  </a:cubicBezTo>
                  <a:cubicBezTo>
                    <a:pt x="1270" y="8255"/>
                    <a:pt x="0" y="12319"/>
                    <a:pt x="0" y="17272"/>
                  </a:cubicBezTo>
                  <a:cubicBezTo>
                    <a:pt x="0" y="21209"/>
                    <a:pt x="1778" y="25654"/>
                    <a:pt x="5207" y="30226"/>
                  </a:cubicBezTo>
                  <a:cubicBezTo>
                    <a:pt x="8636" y="34798"/>
                    <a:pt x="12446" y="38608"/>
                    <a:pt x="16383" y="41275"/>
                  </a:cubicBezTo>
                  <a:moveTo>
                    <a:pt x="128016" y="74168"/>
                  </a:moveTo>
                  <a:lnTo>
                    <a:pt x="170688" y="116840"/>
                  </a:lnTo>
                  <a:lnTo>
                    <a:pt x="170688" y="43180"/>
                  </a:lnTo>
                  <a:cubicBezTo>
                    <a:pt x="167894" y="46228"/>
                    <a:pt x="164719" y="49022"/>
                    <a:pt x="161163" y="51435"/>
                  </a:cubicBezTo>
                  <a:cubicBezTo>
                    <a:pt x="148209" y="60198"/>
                    <a:pt x="137160" y="67818"/>
                    <a:pt x="128016" y="74168"/>
                  </a:cubicBezTo>
                  <a:moveTo>
                    <a:pt x="9652" y="51562"/>
                  </a:moveTo>
                  <a:cubicBezTo>
                    <a:pt x="5969" y="49149"/>
                    <a:pt x="2794" y="46355"/>
                    <a:pt x="0" y="43180"/>
                  </a:cubicBezTo>
                  <a:lnTo>
                    <a:pt x="0" y="116840"/>
                  </a:lnTo>
                  <a:lnTo>
                    <a:pt x="42672" y="74168"/>
                  </a:lnTo>
                  <a:cubicBezTo>
                    <a:pt x="34036" y="68199"/>
                    <a:pt x="23114" y="60706"/>
                    <a:pt x="9652" y="51562"/>
                  </a:cubicBezTo>
                  <a:moveTo>
                    <a:pt x="113792" y="84455"/>
                  </a:moveTo>
                  <a:cubicBezTo>
                    <a:pt x="110109" y="87122"/>
                    <a:pt x="107188" y="89154"/>
                    <a:pt x="105029" y="90678"/>
                  </a:cubicBezTo>
                  <a:cubicBezTo>
                    <a:pt x="102870" y="92202"/>
                    <a:pt x="99822" y="93726"/>
                    <a:pt x="96012" y="95250"/>
                  </a:cubicBezTo>
                  <a:cubicBezTo>
                    <a:pt x="92202" y="96774"/>
                    <a:pt x="88773" y="97536"/>
                    <a:pt x="85598" y="97536"/>
                  </a:cubicBezTo>
                  <a:lnTo>
                    <a:pt x="85217" y="97536"/>
                  </a:lnTo>
                  <a:cubicBezTo>
                    <a:pt x="81915" y="97536"/>
                    <a:pt x="78486" y="96774"/>
                    <a:pt x="74803" y="95250"/>
                  </a:cubicBezTo>
                  <a:cubicBezTo>
                    <a:pt x="71120" y="93726"/>
                    <a:pt x="68072" y="92202"/>
                    <a:pt x="65786" y="90678"/>
                  </a:cubicBezTo>
                  <a:cubicBezTo>
                    <a:pt x="63500" y="89154"/>
                    <a:pt x="60579" y="87122"/>
                    <a:pt x="57023" y="84455"/>
                  </a:cubicBezTo>
                  <a:cubicBezTo>
                    <a:pt x="56007" y="83693"/>
                    <a:pt x="54864" y="82931"/>
                    <a:pt x="53721" y="82042"/>
                  </a:cubicBezTo>
                  <a:lnTo>
                    <a:pt x="5207" y="130302"/>
                  </a:lnTo>
                  <a:cubicBezTo>
                    <a:pt x="8001" y="132842"/>
                    <a:pt x="11303" y="134112"/>
                    <a:pt x="15240" y="134112"/>
                  </a:cubicBezTo>
                  <a:lnTo>
                    <a:pt x="155448" y="134112"/>
                  </a:lnTo>
                  <a:cubicBezTo>
                    <a:pt x="159258" y="134112"/>
                    <a:pt x="162560" y="132842"/>
                    <a:pt x="165481" y="130302"/>
                  </a:cubicBezTo>
                  <a:lnTo>
                    <a:pt x="117094" y="81915"/>
                  </a:lnTo>
                  <a:cubicBezTo>
                    <a:pt x="115951" y="82804"/>
                    <a:pt x="114808" y="83566"/>
                    <a:pt x="113792" y="84328"/>
                  </a:cubicBezTo>
                </a:path>
              </a:pathLst>
            </a:custGeom>
            <a:solidFill>
              <a:srgbClr val="241D19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377169" y="2897097"/>
            <a:ext cx="96084" cy="127858"/>
            <a:chOff x="0" y="0"/>
            <a:chExt cx="150368" cy="24061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0368" cy="240538"/>
            </a:xfrm>
            <a:custGeom>
              <a:avLst/>
              <a:gdLst/>
              <a:ahLst/>
              <a:cxnLst/>
              <a:rect l="l" t="t" r="r" b="b"/>
              <a:pathLst>
                <a:path w="150368" h="240538">
                  <a:moveTo>
                    <a:pt x="45212" y="75184"/>
                  </a:moveTo>
                  <a:cubicBezTo>
                    <a:pt x="45212" y="58547"/>
                    <a:pt x="58674" y="45085"/>
                    <a:pt x="75311" y="45085"/>
                  </a:cubicBezTo>
                  <a:cubicBezTo>
                    <a:pt x="91948" y="45085"/>
                    <a:pt x="105283" y="58547"/>
                    <a:pt x="105283" y="75184"/>
                  </a:cubicBezTo>
                  <a:cubicBezTo>
                    <a:pt x="105283" y="91694"/>
                    <a:pt x="91948" y="105283"/>
                    <a:pt x="75184" y="105283"/>
                  </a:cubicBezTo>
                  <a:cubicBezTo>
                    <a:pt x="58420" y="105283"/>
                    <a:pt x="45212" y="91694"/>
                    <a:pt x="45212" y="75184"/>
                  </a:cubicBezTo>
                  <a:moveTo>
                    <a:pt x="0" y="75184"/>
                  </a:moveTo>
                  <a:cubicBezTo>
                    <a:pt x="0" y="146558"/>
                    <a:pt x="63881" y="161671"/>
                    <a:pt x="75184" y="240538"/>
                  </a:cubicBezTo>
                  <a:cubicBezTo>
                    <a:pt x="86360" y="161544"/>
                    <a:pt x="150368" y="146558"/>
                    <a:pt x="150368" y="75184"/>
                  </a:cubicBezTo>
                  <a:cubicBezTo>
                    <a:pt x="150368" y="33655"/>
                    <a:pt x="116713" y="0"/>
                    <a:pt x="75184" y="0"/>
                  </a:cubicBezTo>
                  <a:cubicBezTo>
                    <a:pt x="33655" y="0"/>
                    <a:pt x="0" y="33655"/>
                    <a:pt x="0" y="75184"/>
                  </a:cubicBezTo>
                </a:path>
              </a:pathLst>
            </a:custGeom>
            <a:solidFill>
              <a:srgbClr val="241D19"/>
            </a:solid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57722" y="2305366"/>
            <a:ext cx="1576756" cy="141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72"/>
              </a:lnSpc>
            </a:pPr>
            <a:r>
              <a:rPr lang="en-US" sz="1200" spc="12" dirty="0"/>
              <a:t>0970-981-96</a:t>
            </a:r>
            <a:r>
              <a:rPr lang="en-US" sz="1200" spc="12" dirty="0">
                <a:solidFill>
                  <a:srgbClr val="464A4E"/>
                </a:solidFill>
              </a:rPr>
              <a:t>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7722" y="2603500"/>
            <a:ext cx="2459083" cy="146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72"/>
              </a:lnSpc>
            </a:pPr>
            <a:r>
              <a:rPr lang="en-US" sz="1200" spc="12" dirty="0"/>
              <a:t>jane515257@gmail.com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9586" y="2827778"/>
            <a:ext cx="221384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TW" altLang="en-US" sz="1200" spc="-7" dirty="0">
                <a:latin typeface="標楷體" panose="03000509000000000000" pitchFamily="65" charset="-120"/>
                <a:ea typeface="標楷體" panose="03000509000000000000" pitchFamily="65" charset="-120"/>
              </a:rPr>
              <a:t>新北市三重區環河南路</a:t>
            </a:r>
            <a:r>
              <a:rPr lang="en-US" altLang="zh-TW" sz="1200" spc="-7" dirty="0">
                <a:latin typeface="標楷體" panose="03000509000000000000" pitchFamily="65" charset="-120"/>
                <a:ea typeface="標楷體" panose="03000509000000000000" pitchFamily="65" charset="-120"/>
              </a:rPr>
              <a:t>221</a:t>
            </a:r>
            <a:r>
              <a:rPr lang="zh-TW" altLang="en-US" sz="1200" spc="-7" dirty="0">
                <a:latin typeface="標楷體" panose="03000509000000000000" pitchFamily="65" charset="-120"/>
                <a:ea typeface="標楷體" panose="03000509000000000000" pitchFamily="65" charset="-120"/>
              </a:rPr>
              <a:t>巷</a:t>
            </a:r>
            <a:r>
              <a:rPr lang="en-US" altLang="zh-TW" sz="1200" spc="-7" dirty="0">
                <a:latin typeface="標楷體" panose="03000509000000000000" pitchFamily="65" charset="-120"/>
                <a:ea typeface="標楷體" panose="03000509000000000000" pitchFamily="65" charset="-120"/>
              </a:rPr>
              <a:t>23</a:t>
            </a:r>
            <a:r>
              <a:rPr lang="zh-TW" altLang="en-US" sz="1200" spc="-7" dirty="0">
                <a:latin typeface="標楷體" panose="03000509000000000000" pitchFamily="65" charset="-120"/>
                <a:ea typeface="標楷體" panose="03000509000000000000" pitchFamily="65" charset="-120"/>
              </a:rPr>
              <a:t>號</a:t>
            </a:r>
            <a:r>
              <a:rPr lang="en-US" altLang="zh-TW" sz="1200" spc="-7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1200" spc="-7" dirty="0">
                <a:latin typeface="標楷體" panose="03000509000000000000" pitchFamily="65" charset="-120"/>
                <a:ea typeface="標楷體" panose="03000509000000000000" pitchFamily="65" charset="-120"/>
              </a:rPr>
              <a:t>樓</a:t>
            </a:r>
            <a:endParaRPr lang="en-US" sz="1200" spc="-7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74388" y="3361178"/>
            <a:ext cx="921859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600" b="1" spc="55" dirty="0">
                <a:latin typeface="標楷體" panose="03000509000000000000" pitchFamily="65" charset="-120"/>
                <a:ea typeface="標楷體" panose="03000509000000000000" pitchFamily="65" charset="-120"/>
              </a:rPr>
              <a:t>學歷</a:t>
            </a:r>
            <a:endParaRPr lang="en-US" sz="1600" b="1" spc="5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41169" y="4175680"/>
            <a:ext cx="975535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600" b="1" spc="55" dirty="0">
                <a:latin typeface="標楷體" panose="03000509000000000000" pitchFamily="65" charset="-120"/>
                <a:ea typeface="標楷體" panose="03000509000000000000" pitchFamily="65" charset="-120"/>
              </a:rPr>
              <a:t>專業技能</a:t>
            </a:r>
            <a:endParaRPr lang="en-US" sz="1600" b="1" spc="5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3141816" y="1718406"/>
            <a:ext cx="4132692" cy="0"/>
          </a:xfrm>
          <a:prstGeom prst="line">
            <a:avLst/>
          </a:prstGeom>
          <a:ln w="9525" cap="flat">
            <a:solidFill>
              <a:srgbClr val="464A4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3121146" y="1765300"/>
            <a:ext cx="1145590" cy="251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自我介紹</a:t>
            </a:r>
            <a:endParaRPr lang="en-US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80621" y="6337300"/>
            <a:ext cx="1011986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600" b="1" spc="55" dirty="0">
                <a:latin typeface="標楷體" panose="03000509000000000000" pitchFamily="65" charset="-120"/>
                <a:ea typeface="標楷體" panose="03000509000000000000" pitchFamily="65" charset="-120"/>
              </a:rPr>
              <a:t>語言能力</a:t>
            </a:r>
            <a:endParaRPr lang="en-US" sz="1600" b="1" spc="55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3117965" y="651606"/>
            <a:ext cx="3786656" cy="518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zh-TW" altLang="en-US" sz="2800" spc="224" dirty="0">
                <a:latin typeface="標楷體" panose="03000509000000000000" pitchFamily="65" charset="-120"/>
                <a:ea typeface="標楷體" panose="03000509000000000000" pitchFamily="65" charset="-120"/>
              </a:rPr>
              <a:t>陳怡蓁</a:t>
            </a:r>
            <a:endParaRPr lang="en-US" sz="2800" spc="224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3165946" y="1174614"/>
            <a:ext cx="2004244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18"/>
              </a:lnSpc>
              <a:spcBef>
                <a:spcPct val="0"/>
              </a:spcBef>
            </a:pPr>
            <a:r>
              <a:rPr lang="en-US" sz="1400" spc="308" dirty="0"/>
              <a:t>Jane</a:t>
            </a:r>
          </a:p>
          <a:p>
            <a:pPr>
              <a:lnSpc>
                <a:spcPts val="2018"/>
              </a:lnSpc>
              <a:spcBef>
                <a:spcPct val="0"/>
              </a:spcBef>
            </a:pPr>
            <a:r>
              <a:rPr lang="en-US" sz="1400" spc="308" dirty="0"/>
              <a:t>2002.05.28</a:t>
            </a:r>
          </a:p>
        </p:txBody>
      </p:sp>
      <p:sp>
        <p:nvSpPr>
          <p:cNvPr id="78" name="文字方塊 77"/>
          <p:cNvSpPr txBox="1"/>
          <p:nvPr/>
        </p:nvSpPr>
        <p:spPr>
          <a:xfrm>
            <a:off x="100842" y="3594405"/>
            <a:ext cx="3200400" cy="763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國立陽明交通大學 生物醫學資訊所 碩士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國立中央大學 生醫科學與工程學系 學士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18695" y="4708794"/>
            <a:ext cx="2297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dirty="0"/>
          </a:p>
        </p:txBody>
      </p:sp>
      <p:sp>
        <p:nvSpPr>
          <p:cNvPr id="8" name="文字方塊 7"/>
          <p:cNvSpPr txBox="1"/>
          <p:nvPr/>
        </p:nvSpPr>
        <p:spPr>
          <a:xfrm>
            <a:off x="95009" y="6561185"/>
            <a:ext cx="24363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中文 精通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英語 </a:t>
            </a:r>
            <a:r>
              <a:rPr lang="en-US" altLang="zh-TW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TOEIC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785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分 進階水平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85264" y="4404280"/>
            <a:ext cx="1178883" cy="1918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prstClr val="black"/>
                </a:solidFill>
                <a:ea typeface="標楷體" panose="03000509000000000000" pitchFamily="65" charset="-120"/>
              </a:rPr>
              <a:t>軟體</a:t>
            </a:r>
            <a:endParaRPr lang="en-US" altLang="zh-TW" sz="1200" dirty="0">
              <a:solidFill>
                <a:prstClr val="black"/>
              </a:solidFill>
              <a:ea typeface="標楷體" panose="03000509000000000000" pitchFamily="65" charset="-12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solidFill>
                  <a:prstClr val="black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ea typeface="標楷體" panose="03000509000000000000" pitchFamily="65" charset="-120"/>
              </a:rPr>
              <a:t>R</a:t>
            </a:r>
            <a:r>
              <a:rPr lang="zh-TW" altLang="en-US" sz="1200" dirty="0">
                <a:solidFill>
                  <a:prstClr val="blac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語言</a:t>
            </a:r>
            <a:endParaRPr lang="en-US" altLang="zh-TW" sz="1200" dirty="0">
              <a:solidFill>
                <a:prstClr val="black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solidFill>
                  <a:prstClr val="black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ea typeface="標楷體" panose="03000509000000000000" pitchFamily="65" charset="-120"/>
              </a:rPr>
              <a:t>Python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US" altLang="zh-TW" sz="1200" dirty="0">
                <a:solidFill>
                  <a:prstClr val="black"/>
                </a:solidFill>
                <a:ea typeface="標楷體" panose="03000509000000000000" pitchFamily="65" charset="-120"/>
              </a:rPr>
              <a:t> Linux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solidFill>
                  <a:prstClr val="black"/>
                </a:solidFill>
                <a:ea typeface="標楷體" panose="03000509000000000000" pitchFamily="65" charset="-120"/>
              </a:rPr>
              <a:t> </a:t>
            </a:r>
            <a:r>
              <a:rPr lang="en-US" altLang="zh-TW" sz="1200" dirty="0">
                <a:solidFill>
                  <a:prstClr val="black"/>
                </a:solidFill>
                <a:ea typeface="標楷體" panose="03000509000000000000" pitchFamily="65" charset="-120"/>
              </a:rPr>
              <a:t>C</a:t>
            </a:r>
            <a:r>
              <a:rPr lang="zh-TW" altLang="en-US" sz="1200" dirty="0">
                <a:solidFill>
                  <a:prstClr val="blac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語言</a:t>
            </a:r>
            <a:endParaRPr lang="en-US" altLang="zh-TW" sz="1200" dirty="0">
              <a:solidFill>
                <a:prstClr val="black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solidFill>
                  <a:prstClr val="blac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資料庫</a:t>
            </a:r>
            <a:endParaRPr lang="en-US" altLang="zh-TW" sz="1200" dirty="0">
              <a:solidFill>
                <a:prstClr val="black"/>
              </a:solidFill>
              <a:ea typeface="標楷體" panose="03000509000000000000" pitchFamily="65" charset="-12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US" altLang="zh-TW" sz="1200" dirty="0">
                <a:solidFill>
                  <a:prstClr val="black"/>
                </a:solidFill>
                <a:latin typeface="+mj-lt"/>
                <a:ea typeface="標楷體" panose="03000509000000000000" pitchFamily="65" charset="-120"/>
              </a:rPr>
              <a:t> Tableau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zh-TW" altLang="en-US" sz="1200" dirty="0">
                <a:solidFill>
                  <a:prstClr val="blac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機器學習</a:t>
            </a:r>
            <a:endParaRPr lang="en-US" altLang="zh-TW" sz="1200" dirty="0">
              <a:solidFill>
                <a:prstClr val="black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240630" y="5148967"/>
            <a:ext cx="15869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韌體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US" altLang="zh-TW" sz="1200" dirty="0" err="1">
                <a:ea typeface="標楷體" panose="03000509000000000000" pitchFamily="65" charset="-120"/>
              </a:rPr>
              <a:t>Arduino</a:t>
            </a:r>
            <a:r>
              <a:rPr lang="en-US" altLang="zh-TW" sz="1200" dirty="0">
                <a:ea typeface="標楷體" panose="03000509000000000000" pitchFamily="65" charset="-120"/>
              </a:rPr>
              <a:t> </a:t>
            </a:r>
            <a:endParaRPr lang="zh-TW" altLang="en-US" sz="1200" dirty="0">
              <a:ea typeface="標楷體" panose="03000509000000000000" pitchFamily="65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1230681" y="4399823"/>
            <a:ext cx="215682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硬體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US" altLang="zh-TW" sz="1200" dirty="0" err="1"/>
              <a:t>Arduino</a:t>
            </a:r>
            <a:r>
              <a:rPr lang="en-US" altLang="zh-TW" sz="1200" dirty="0"/>
              <a:t> Uno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版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US" altLang="zh-TW" sz="1200" dirty="0"/>
              <a:t>Esp32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開發版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3035509" y="6197074"/>
            <a:ext cx="1604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專案與作品集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3075217" y="6501874"/>
            <a:ext cx="44217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專題計畫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sz="1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r>
              <a:rPr lang="en-US" altLang="zh-TW" sz="1200" dirty="0">
                <a:ea typeface="標楷體" panose="03000509000000000000" pitchFamily="65" charset="-120"/>
              </a:rPr>
              <a:t>Integrative analysis of breast cancer in TCGA for identification of potential microRNA diagnostic panel and uncovering oncogenic role </a:t>
            </a:r>
          </a:p>
          <a:p>
            <a:pPr algn="just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專題計畫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sz="1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r>
              <a:rPr lang="en-US" altLang="zh-TW" sz="1200" dirty="0">
                <a:ea typeface="標楷體" panose="03000509000000000000" pitchFamily="65" charset="-120"/>
              </a:rPr>
              <a:t>Elucidating Immune Dysregulation in Neuromyelitis </a:t>
            </a:r>
            <a:r>
              <a:rPr lang="en-US" altLang="zh-TW" sz="1200" dirty="0" err="1">
                <a:ea typeface="標楷體" panose="03000509000000000000" pitchFamily="65" charset="-120"/>
              </a:rPr>
              <a:t>Optica</a:t>
            </a:r>
            <a:r>
              <a:rPr lang="en-US" altLang="zh-TW" sz="1200" dirty="0">
                <a:ea typeface="標楷體" panose="03000509000000000000" pitchFamily="65" charset="-120"/>
              </a:rPr>
              <a:t> Spectrum Disorder Through Bulk and Single-Cell RNA-seq Characterization of Interferon-Related Gene Expression</a:t>
            </a:r>
            <a:endParaRPr lang="en-US" altLang="zh-TW" sz="400" dirty="0">
              <a:ea typeface="標楷體" panose="03000509000000000000" pitchFamily="65" charset="-120"/>
            </a:endParaRPr>
          </a:p>
          <a:p>
            <a:pPr algn="just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其他作品集 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乳癌良惡性預測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        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利用機器學習預測肺癌發病因子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7477" y="7065546"/>
            <a:ext cx="1653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競賽與獎項</a:t>
            </a:r>
          </a:p>
        </p:txBody>
      </p:sp>
      <p:sp>
        <p:nvSpPr>
          <p:cNvPr id="21" name="文字方塊 20"/>
          <p:cNvSpPr txBox="1"/>
          <p:nvPr/>
        </p:nvSpPr>
        <p:spPr>
          <a:xfrm>
            <a:off x="95009" y="7353217"/>
            <a:ext cx="2898729" cy="7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150" dirty="0">
                <a:latin typeface="標楷體" panose="03000509000000000000" pitchFamily="65" charset="-120"/>
                <a:ea typeface="標楷體" panose="03000509000000000000" pitchFamily="65" charset="-120"/>
              </a:rPr>
              <a:t>生物醫學資訊所專題論文比賽</a:t>
            </a:r>
            <a:r>
              <a:rPr lang="zh-TW" altLang="en-US" sz="1150" dirty="0">
                <a:solidFill>
                  <a:srgbClr val="0033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第一名</a:t>
            </a:r>
            <a:endParaRPr lang="en-US" altLang="zh-TW" sz="1150" dirty="0">
              <a:solidFill>
                <a:srgbClr val="0033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100" dirty="0">
                <a:solidFill>
                  <a:prstClr val="blac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菁英盃英文演講</a:t>
            </a:r>
            <a:r>
              <a:rPr lang="zh-TW" altLang="en-US" sz="1100" dirty="0">
                <a:solidFill>
                  <a:srgbClr val="0033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第二名</a:t>
            </a:r>
            <a:endParaRPr lang="en-US" altLang="zh-TW" sz="1150" dirty="0">
              <a:solidFill>
                <a:srgbClr val="0033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TW" sz="1100" dirty="0">
                <a:solidFill>
                  <a:prstClr val="black"/>
                </a:solidFill>
                <a:ea typeface="標楷體" panose="03000509000000000000" pitchFamily="65" charset="-120"/>
              </a:rPr>
              <a:t>111-2</a:t>
            </a:r>
            <a:r>
              <a:rPr lang="zh-TW" altLang="en-US" sz="1100" dirty="0">
                <a:solidFill>
                  <a:prstClr val="black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學年度</a:t>
            </a:r>
            <a:r>
              <a:rPr lang="zh-TW" altLang="en-US" sz="1100" dirty="0">
                <a:solidFill>
                  <a:srgbClr val="0033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書卷獎</a:t>
            </a:r>
            <a:endParaRPr lang="en-US" altLang="zh-TW" sz="1100" dirty="0">
              <a:solidFill>
                <a:srgbClr val="0033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3680" y="9624847"/>
            <a:ext cx="2533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證書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200" dirty="0" err="1">
                <a:ea typeface="標楷體" panose="03000509000000000000" pitchFamily="65" charset="-120"/>
              </a:rPr>
              <a:t>Ewant</a:t>
            </a:r>
            <a:r>
              <a:rPr lang="en-US" altLang="zh-TW" sz="1200" dirty="0">
                <a:ea typeface="標楷體" panose="03000509000000000000" pitchFamily="65" charset="-120"/>
              </a:rPr>
              <a:t> R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語言新手村修課證書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200" dirty="0" err="1">
                <a:ea typeface="標楷體" panose="03000509000000000000" pitchFamily="65" charset="-120"/>
              </a:rPr>
              <a:t>Ewant</a:t>
            </a:r>
            <a:r>
              <a:rPr lang="en-US" altLang="zh-TW" sz="1200" dirty="0">
                <a:ea typeface="標楷體" panose="03000509000000000000" pitchFamily="65" charset="-120"/>
              </a:rPr>
              <a:t> 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資料科學修課證書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2C6CCBA-25C0-D7BD-1821-2BE014517FE7}"/>
              </a:ext>
            </a:extLst>
          </p:cNvPr>
          <p:cNvSpPr txBox="1"/>
          <p:nvPr/>
        </p:nvSpPr>
        <p:spPr>
          <a:xfrm>
            <a:off x="3066733" y="1993900"/>
            <a:ext cx="44128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畢業於國立陽明交通大學生物醫學資訊研究所。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在學期間，由於對數字、邏輯推理、圖表分析感興趣，因而修習統計、程式設計、人工智慧、機器學習、圖像辨識等相關程式課程。此外，也主動精進</a:t>
            </a:r>
            <a:r>
              <a:rPr lang="en-US" altLang="zh-TW" sz="1200" dirty="0">
                <a:ea typeface="標楷體" panose="03000509000000000000" pitchFamily="65" charset="-120"/>
              </a:rPr>
              <a:t>Python</a:t>
            </a:r>
            <a:r>
              <a:rPr lang="zh-TW" altLang="en-US" sz="1200" dirty="0">
                <a:ea typeface="標楷體" panose="03000509000000000000" pitchFamily="65" charset="-120"/>
              </a:rPr>
              <a:t>、</a:t>
            </a:r>
            <a:r>
              <a:rPr lang="en-US" altLang="zh-TW" sz="1200" dirty="0">
                <a:ea typeface="標楷體" panose="03000509000000000000" pitchFamily="65" charset="-120"/>
              </a:rPr>
              <a:t>Linux</a:t>
            </a:r>
            <a:r>
              <a:rPr lang="zh-TW" altLang="en-US" sz="1200" dirty="0">
                <a:ea typeface="標楷體" panose="03000509000000000000" pitchFamily="65" charset="-120"/>
              </a:rPr>
              <a:t>、</a:t>
            </a:r>
            <a:r>
              <a:rPr lang="en-US" altLang="zh-TW" sz="1200" dirty="0">
                <a:ea typeface="標楷體" panose="03000509000000000000" pitchFamily="65" charset="-120"/>
              </a:rPr>
              <a:t>R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等程式語言。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大四時以「乳癌資料庫分析」的專題計畫榮獲</a:t>
            </a:r>
            <a:r>
              <a:rPr lang="en-US" altLang="zh-TW" sz="1200" dirty="0">
                <a:ea typeface="標楷體" panose="03000509000000000000" pitchFamily="65" charset="-120"/>
              </a:rPr>
              <a:t>Taiwanese Society of Biomedical Engineering</a:t>
            </a:r>
            <a:r>
              <a:rPr lang="zh-TW" altLang="en-US" sz="1200" dirty="0">
                <a:ea typeface="標楷體" panose="03000509000000000000" pitchFamily="65" charset="-120"/>
              </a:rPr>
              <a:t> </a:t>
            </a:r>
            <a:r>
              <a:rPr lang="en-US" altLang="zh-TW" sz="1200" dirty="0">
                <a:ea typeface="標楷體" panose="03000509000000000000" pitchFamily="65" charset="-120"/>
              </a:rPr>
              <a:t>(TSBME)</a:t>
            </a:r>
            <a:r>
              <a:rPr lang="zh-TW" altLang="en-US" sz="1200" dirty="0">
                <a:ea typeface="標楷體" panose="03000509000000000000" pitchFamily="65" charset="-120"/>
              </a:rPr>
              <a:t> 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研討會生醫資訊組口頭論文比賽</a:t>
            </a:r>
            <a:r>
              <a:rPr lang="zh-TW" altLang="en-US" sz="1200" dirty="0">
                <a:solidFill>
                  <a:srgbClr val="0033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特優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碩士期間，投入「多體學罕見疾病分析」研究，獲得第 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27 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屆罕見疾病博碩士論文獎助學金、台灣神經免疫醫學會研討會口頭論文比賽獲得</a:t>
            </a:r>
            <a:r>
              <a:rPr lang="zh-TW" altLang="en-US" sz="1200" dirty="0">
                <a:solidFill>
                  <a:srgbClr val="0033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第二名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、生物醫學資訊所專題比賽</a:t>
            </a:r>
            <a:r>
              <a:rPr lang="zh-TW" altLang="en-US" sz="1200" dirty="0">
                <a:solidFill>
                  <a:srgbClr val="0033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第一名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，並成功投稿通過國際生物資訊研討會</a:t>
            </a:r>
            <a:r>
              <a:rPr lang="en-US" altLang="zh-TW" sz="1200" dirty="0">
                <a:ea typeface="標楷體" panose="03000509000000000000" pitchFamily="65" charset="-120"/>
              </a:rPr>
              <a:t>Intelligent Systems for Molecular Biology (ISMB)</a:t>
            </a:r>
            <a:r>
              <a:rPr lang="zh-TW" altLang="en-US" sz="1200" dirty="0"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19" name="圖片 18" descr="一張含有 人員, 人的臉孔, 服裝, 嘴唇 的圖片&#10;&#10;AI 產生的內容可能不正確。">
            <a:extLst>
              <a:ext uri="{FF2B5EF4-FFF2-40B4-BE49-F238E27FC236}">
                <a16:creationId xmlns:a16="http://schemas.microsoft.com/office/drawing/2014/main" id="{06E45B25-9F60-682D-A0A4-2A6F6FDC4ED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8973" y="774700"/>
            <a:ext cx="1074253" cy="1379871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F01EACCF-BB84-8C96-A173-5A0B4149916D}"/>
              </a:ext>
            </a:extLst>
          </p:cNvPr>
          <p:cNvSpPr txBox="1"/>
          <p:nvPr/>
        </p:nvSpPr>
        <p:spPr>
          <a:xfrm>
            <a:off x="103680" y="8396241"/>
            <a:ext cx="2898729" cy="1228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TW" sz="1200" dirty="0">
                <a:ea typeface="標楷體" panose="03000509000000000000" pitchFamily="65" charset="-120"/>
                <a:cs typeface="Calibri" panose="020F0502020204030204" pitchFamily="34" charset="0"/>
              </a:rPr>
              <a:t>TSBME</a:t>
            </a:r>
            <a:r>
              <a:rPr lang="zh-TW" altLang="en-US" sz="1200" dirty="0">
                <a:ea typeface="標楷體" panose="03000509000000000000" pitchFamily="65" charset="-120"/>
                <a:cs typeface="Calibri" panose="020F0502020204030204" pitchFamily="34" charset="0"/>
              </a:rPr>
              <a:t>研討會生醫資訊</a:t>
            </a:r>
            <a:r>
              <a:rPr lang="zh-TW" altLang="en-US" sz="1200" dirty="0">
                <a:ea typeface="標楷體" panose="03000509000000000000" pitchFamily="65" charset="-120"/>
              </a:rPr>
              <a:t>口頭論文比賽</a:t>
            </a:r>
            <a:r>
              <a:rPr lang="zh-TW" altLang="en-US" sz="1200" dirty="0">
                <a:solidFill>
                  <a:srgbClr val="0033CC"/>
                </a:solidFill>
                <a:ea typeface="標楷體" panose="03000509000000000000" pitchFamily="65" charset="-120"/>
              </a:rPr>
              <a:t>特優</a:t>
            </a:r>
            <a:endParaRPr lang="en-US" altLang="zh-TW" sz="1200" dirty="0">
              <a:solidFill>
                <a:srgbClr val="0033CC"/>
              </a:solidFill>
              <a:ea typeface="標楷體" panose="03000509000000000000" pitchFamily="65" charset="-12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ea typeface="標楷體" panose="03000509000000000000" pitchFamily="65" charset="-120"/>
              </a:rPr>
              <a:t>臺灣神經免疫醫學會研討會口頭論文比賽</a:t>
            </a:r>
            <a:r>
              <a:rPr lang="zh-TW" altLang="en-US" sz="1200" dirty="0">
                <a:solidFill>
                  <a:srgbClr val="0033CC"/>
                </a:solidFill>
                <a:ea typeface="標楷體" panose="03000509000000000000" pitchFamily="65" charset="-120"/>
              </a:rPr>
              <a:t>第二名</a:t>
            </a:r>
            <a:endParaRPr lang="en-US" altLang="zh-TW" sz="1200" dirty="0">
              <a:solidFill>
                <a:srgbClr val="0033CC"/>
              </a:solidFill>
              <a:ea typeface="標楷體" panose="03000509000000000000" pitchFamily="65" charset="-12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TW" sz="1200" dirty="0">
                <a:ea typeface="標楷體" panose="03000509000000000000" pitchFamily="65" charset="-120"/>
              </a:rPr>
              <a:t>ISMB</a:t>
            </a:r>
            <a:r>
              <a:rPr lang="zh-TW" altLang="en-US" sz="1200" dirty="0">
                <a:ea typeface="標楷體" panose="03000509000000000000" pitchFamily="65" charset="-120"/>
              </a:rPr>
              <a:t>研討會</a:t>
            </a:r>
            <a:endParaRPr lang="en-US" altLang="zh-TW" sz="1200" dirty="0">
              <a:ea typeface="標楷體" panose="03000509000000000000" pitchFamily="65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9EC558E-2160-C155-B580-022D98AD6843}"/>
              </a:ext>
            </a:extLst>
          </p:cNvPr>
          <p:cNvSpPr txBox="1"/>
          <p:nvPr/>
        </p:nvSpPr>
        <p:spPr>
          <a:xfrm>
            <a:off x="67477" y="8089900"/>
            <a:ext cx="1653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國際研討會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EB156ED-10B2-E82A-673A-3F524583EB77}"/>
              </a:ext>
            </a:extLst>
          </p:cNvPr>
          <p:cNvSpPr txBox="1"/>
          <p:nvPr/>
        </p:nvSpPr>
        <p:spPr>
          <a:xfrm>
            <a:off x="3066733" y="8373120"/>
            <a:ext cx="1653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推薦人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8EB241C-7BCD-64E0-6425-82AB3086E69C}"/>
              </a:ext>
            </a:extLst>
          </p:cNvPr>
          <p:cNvSpPr txBox="1"/>
          <p:nvPr/>
        </p:nvSpPr>
        <p:spPr>
          <a:xfrm>
            <a:off x="3085055" y="8702268"/>
            <a:ext cx="4464351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300" dirty="0">
                <a:ea typeface="標楷體" panose="03000509000000000000" pitchFamily="65" charset="-120"/>
              </a:rPr>
              <a:t>黃貞翰</a:t>
            </a:r>
            <a:endParaRPr lang="en-US" altLang="zh-TW" sz="1300" dirty="0">
              <a:ea typeface="標楷體" panose="03000509000000000000" pitchFamily="65" charset="-120"/>
            </a:endParaRPr>
          </a:p>
          <a:p>
            <a:pPr algn="just"/>
            <a:r>
              <a:rPr lang="zh-TW" altLang="en-US" sz="1300" dirty="0">
                <a:ea typeface="標楷體" panose="03000509000000000000" pitchFamily="65" charset="-120"/>
              </a:rPr>
              <a:t>國立中央大學生醫科學與工程學系</a:t>
            </a:r>
            <a:r>
              <a:rPr lang="en-US" altLang="zh-TW" sz="1300" dirty="0">
                <a:ea typeface="標楷體" panose="03000509000000000000" pitchFamily="65" charset="-120"/>
              </a:rPr>
              <a:t>/</a:t>
            </a:r>
            <a:r>
              <a:rPr lang="zh-TW" altLang="en-US" sz="1300" dirty="0">
                <a:ea typeface="標楷體" panose="03000509000000000000" pitchFamily="65" charset="-120"/>
              </a:rPr>
              <a:t>副院長兼副教授</a:t>
            </a:r>
            <a:endParaRPr lang="en-US" altLang="zh-TW" sz="1300" dirty="0">
              <a:ea typeface="標楷體" panose="03000509000000000000" pitchFamily="65" charset="-120"/>
            </a:endParaRPr>
          </a:p>
          <a:p>
            <a:pPr algn="just"/>
            <a:r>
              <a:rPr lang="en-US" altLang="zh-TW" sz="1200" dirty="0">
                <a:ea typeface="標楷體" panose="03000509000000000000" pitchFamily="65" charset="-120"/>
              </a:rPr>
              <a:t>Phone: 0916-786-884</a:t>
            </a:r>
          </a:p>
          <a:p>
            <a:pPr algn="just">
              <a:spcAft>
                <a:spcPts val="200"/>
              </a:spcAft>
            </a:pPr>
            <a:r>
              <a:rPr lang="en-US" altLang="zh-TW" sz="1200" dirty="0">
                <a:ea typeface="標楷體" panose="03000509000000000000" pitchFamily="65" charset="-120"/>
              </a:rPr>
              <a:t>Email: chhuang@ncu.edu.tw</a:t>
            </a:r>
          </a:p>
          <a:p>
            <a:r>
              <a:rPr lang="zh-TW" altLang="en-US" sz="1300" dirty="0">
                <a:ea typeface="標楷體" panose="03000509000000000000" pitchFamily="65" charset="-120"/>
              </a:rPr>
              <a:t>王禹超</a:t>
            </a:r>
            <a:endParaRPr lang="en-US" altLang="zh-TW" sz="1300" dirty="0">
              <a:ea typeface="標楷體" panose="03000509000000000000" pitchFamily="65" charset="-120"/>
            </a:endParaRPr>
          </a:p>
          <a:p>
            <a:r>
              <a:rPr lang="zh-TW" altLang="en-US" sz="1300" dirty="0">
                <a:ea typeface="標楷體" panose="03000509000000000000" pitchFamily="65" charset="-120"/>
              </a:rPr>
              <a:t>國立陽明交通大學生物醫學資訊所</a:t>
            </a:r>
            <a:r>
              <a:rPr lang="en-US" altLang="zh-TW" sz="1300" dirty="0">
                <a:ea typeface="標楷體" panose="03000509000000000000" pitchFamily="65" charset="-120"/>
              </a:rPr>
              <a:t>/</a:t>
            </a:r>
            <a:r>
              <a:rPr lang="zh-TW" altLang="en-US" sz="1300" dirty="0">
                <a:ea typeface="標楷體" panose="03000509000000000000" pitchFamily="65" charset="-120"/>
              </a:rPr>
              <a:t>所長兼教授</a:t>
            </a:r>
            <a:endParaRPr lang="en-US" altLang="zh-TW" sz="1300" dirty="0">
              <a:ea typeface="標楷體" panose="03000509000000000000" pitchFamily="65" charset="-120"/>
            </a:endParaRPr>
          </a:p>
          <a:p>
            <a:r>
              <a:rPr lang="en-US" altLang="zh-TW" sz="1200" dirty="0">
                <a:ea typeface="標楷體" panose="03000509000000000000" pitchFamily="65" charset="-120"/>
              </a:rPr>
              <a:t>Phone: (02)2826-7973 </a:t>
            </a:r>
          </a:p>
          <a:p>
            <a:r>
              <a:rPr lang="en-US" altLang="zh-TW" sz="1200" dirty="0">
                <a:ea typeface="標楷體" panose="03000509000000000000" pitchFamily="65" charset="-120"/>
              </a:rPr>
              <a:t>Email: yuchao@nycu.edu.tw</a:t>
            </a:r>
          </a:p>
          <a:p>
            <a:endParaRPr lang="zh-TW" altLang="en-US" sz="1200" dirty="0"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52746C-F1A9-6F0B-FE41-5894837A4E67}"/>
              </a:ext>
            </a:extLst>
          </p:cNvPr>
          <p:cNvSpPr txBox="1"/>
          <p:nvPr/>
        </p:nvSpPr>
        <p:spPr>
          <a:xfrm>
            <a:off x="3073947" y="4225143"/>
            <a:ext cx="1652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實習經驗</a:t>
            </a:r>
          </a:p>
        </p:txBody>
      </p:sp>
      <p:sp>
        <p:nvSpPr>
          <p:cNvPr id="28" name="AutoShape 53">
            <a:extLst>
              <a:ext uri="{FF2B5EF4-FFF2-40B4-BE49-F238E27FC236}">
                <a16:creationId xmlns:a16="http://schemas.microsoft.com/office/drawing/2014/main" id="{177E6874-EF1C-6E40-4BE1-DD2ADABA1DC7}"/>
              </a:ext>
            </a:extLst>
          </p:cNvPr>
          <p:cNvSpPr/>
          <p:nvPr/>
        </p:nvSpPr>
        <p:spPr>
          <a:xfrm>
            <a:off x="3220487" y="4649299"/>
            <a:ext cx="0" cy="1514088"/>
          </a:xfrm>
          <a:prstGeom prst="line">
            <a:avLst/>
          </a:prstGeom>
          <a:ln w="12700" cap="flat">
            <a:solidFill>
              <a:schemeClr val="accent2">
                <a:lumMod val="60000"/>
                <a:lumOff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 dirty="0"/>
          </a:p>
        </p:txBody>
      </p:sp>
      <p:grpSp>
        <p:nvGrpSpPr>
          <p:cNvPr id="33" name="Group 70">
            <a:extLst>
              <a:ext uri="{FF2B5EF4-FFF2-40B4-BE49-F238E27FC236}">
                <a16:creationId xmlns:a16="http://schemas.microsoft.com/office/drawing/2014/main" id="{04355346-F359-92AC-55AD-5F8ACA3D94EA}"/>
              </a:ext>
            </a:extLst>
          </p:cNvPr>
          <p:cNvGrpSpPr>
            <a:grpSpLocks noChangeAspect="1"/>
          </p:cNvGrpSpPr>
          <p:nvPr/>
        </p:nvGrpSpPr>
        <p:grpSpPr>
          <a:xfrm>
            <a:off x="3176574" y="4617928"/>
            <a:ext cx="100341" cy="100341"/>
            <a:chOff x="0" y="0"/>
            <a:chExt cx="91491" cy="91491"/>
          </a:xfrm>
          <a:solidFill>
            <a:schemeClr val="bg1"/>
          </a:solidFill>
        </p:grpSpPr>
        <p:sp>
          <p:nvSpPr>
            <p:cNvPr id="34" name="Freeform 71">
              <a:extLst>
                <a:ext uri="{FF2B5EF4-FFF2-40B4-BE49-F238E27FC236}">
                  <a16:creationId xmlns:a16="http://schemas.microsoft.com/office/drawing/2014/main" id="{4D26A523-6364-1201-D1E7-050EDC38AE7E}"/>
                </a:ext>
              </a:extLst>
            </p:cNvPr>
            <p:cNvSpPr/>
            <p:nvPr/>
          </p:nvSpPr>
          <p:spPr>
            <a:xfrm>
              <a:off x="0" y="0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91440" y="45720"/>
                  </a:move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B7A9F65-9E39-E450-1A34-88DB481293CF}"/>
              </a:ext>
            </a:extLst>
          </p:cNvPr>
          <p:cNvSpPr txBox="1"/>
          <p:nvPr/>
        </p:nvSpPr>
        <p:spPr>
          <a:xfrm>
            <a:off x="5454650" y="7965267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產品銷售量預測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房價預測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/>
          <p:cNvSpPr txBox="1"/>
          <p:nvPr/>
        </p:nvSpPr>
        <p:spPr>
          <a:xfrm>
            <a:off x="347964" y="3365500"/>
            <a:ext cx="2367557" cy="251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社團經驗</a:t>
            </a:r>
            <a:endParaRPr lang="en-US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AutoShape 53"/>
          <p:cNvSpPr/>
          <p:nvPr/>
        </p:nvSpPr>
        <p:spPr>
          <a:xfrm>
            <a:off x="397561" y="3867217"/>
            <a:ext cx="20311" cy="5616000"/>
          </a:xfrm>
          <a:prstGeom prst="line">
            <a:avLst/>
          </a:prstGeom>
          <a:ln w="12700" cap="flat">
            <a:solidFill>
              <a:schemeClr val="accent2">
                <a:lumMod val="60000"/>
                <a:lumOff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537765" y="6020931"/>
            <a:ext cx="6637965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柏克萊團契</a:t>
            </a:r>
            <a:r>
              <a:rPr lang="en-US" altLang="zh-TW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zh-TW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社員</a:t>
            </a: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350" dirty="0"/>
              <a:t>2022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與美國學校合作舉辦清交中央大一新生的英文營，參與課程與活動規劃。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全程以英文進行溝通，提升英文表達與跨國合作能力。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擔任小隊輔，帶領組員與美國學生進行線上互動與交流。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累積領導、協調及團體分工合作的能力。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0"/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0"/>
            <a:endParaRPr lang="en-US" altLang="zh-TW" sz="135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37765" y="7480300"/>
            <a:ext cx="6637965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美食社</a:t>
            </a:r>
            <a:r>
              <a:rPr lang="en-US" altLang="zh-TW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社員 </a:t>
            </a:r>
            <a:r>
              <a:rPr lang="en-US" altLang="zh-TW" sz="1350" dirty="0"/>
              <a:t>2021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每周</a:t>
            </a:r>
            <a:r>
              <a:rPr lang="zh-TW" altLang="zh-TW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參與各式餅乾、蛋塔、奶酪等</a:t>
            </a: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食物製作，協助義賣活動籌備與執行。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透過活動累積團隊分工、協調合作與行銷宣傳經驗。</a:t>
            </a:r>
          </a:p>
        </p:txBody>
      </p:sp>
      <p:grpSp>
        <p:nvGrpSpPr>
          <p:cNvPr id="25" name="Group 70"/>
          <p:cNvGrpSpPr>
            <a:grpSpLocks noChangeAspect="1"/>
          </p:cNvGrpSpPr>
          <p:nvPr/>
        </p:nvGrpSpPr>
        <p:grpSpPr>
          <a:xfrm>
            <a:off x="367701" y="8620620"/>
            <a:ext cx="100341" cy="100341"/>
            <a:chOff x="0" y="0"/>
            <a:chExt cx="91491" cy="91491"/>
          </a:xfrm>
          <a:solidFill>
            <a:schemeClr val="bg1"/>
          </a:solidFill>
        </p:grpSpPr>
        <p:sp>
          <p:nvSpPr>
            <p:cNvPr id="26" name="Freeform 71"/>
            <p:cNvSpPr/>
            <p:nvPr/>
          </p:nvSpPr>
          <p:spPr>
            <a:xfrm>
              <a:off x="0" y="0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91440" y="45720"/>
                  </a:move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7" name="Group 70"/>
          <p:cNvGrpSpPr>
            <a:grpSpLocks noChangeAspect="1"/>
          </p:cNvGrpSpPr>
          <p:nvPr/>
        </p:nvGrpSpPr>
        <p:grpSpPr>
          <a:xfrm>
            <a:off x="356664" y="7596331"/>
            <a:ext cx="100341" cy="100341"/>
            <a:chOff x="0" y="0"/>
            <a:chExt cx="91491" cy="91491"/>
          </a:xfrm>
          <a:solidFill>
            <a:schemeClr val="bg1"/>
          </a:solidFill>
        </p:grpSpPr>
        <p:sp>
          <p:nvSpPr>
            <p:cNvPr id="28" name="Freeform 71"/>
            <p:cNvSpPr/>
            <p:nvPr/>
          </p:nvSpPr>
          <p:spPr>
            <a:xfrm>
              <a:off x="0" y="0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91440" y="45720"/>
                  </a:move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29" name="Group 70"/>
          <p:cNvGrpSpPr>
            <a:grpSpLocks noChangeAspect="1"/>
          </p:cNvGrpSpPr>
          <p:nvPr/>
        </p:nvGrpSpPr>
        <p:grpSpPr>
          <a:xfrm>
            <a:off x="350408" y="6119870"/>
            <a:ext cx="100341" cy="100341"/>
            <a:chOff x="0" y="0"/>
            <a:chExt cx="91491" cy="91491"/>
          </a:xfrm>
          <a:solidFill>
            <a:schemeClr val="bg1"/>
          </a:solidFill>
        </p:grpSpPr>
        <p:sp>
          <p:nvSpPr>
            <p:cNvPr id="30" name="Freeform 71"/>
            <p:cNvSpPr/>
            <p:nvPr/>
          </p:nvSpPr>
          <p:spPr>
            <a:xfrm>
              <a:off x="0" y="0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91440" y="45720"/>
                  </a:move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1" name="文字方塊 30"/>
          <p:cNvSpPr txBox="1"/>
          <p:nvPr/>
        </p:nvSpPr>
        <p:spPr>
          <a:xfrm>
            <a:off x="542418" y="8540424"/>
            <a:ext cx="666908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管樂團</a:t>
            </a:r>
            <a:r>
              <a:rPr lang="en-US" altLang="zh-TW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社員 </a:t>
            </a:r>
            <a:r>
              <a:rPr lang="en-US" altLang="zh-TW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2018-2021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在樂團中主吹長笛，透過每週分部練習及團練提升演奏能力。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在合奏過程中培養團隊默契、配合度與向心力。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曾參與全國管樂團大賽，獲得台北市東區第一名。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52763" y="275434"/>
            <a:ext cx="1652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工作經驗</a:t>
            </a:r>
          </a:p>
        </p:txBody>
      </p:sp>
      <p:sp>
        <p:nvSpPr>
          <p:cNvPr id="16" name="AutoShape 53"/>
          <p:cNvSpPr/>
          <p:nvPr/>
        </p:nvSpPr>
        <p:spPr>
          <a:xfrm>
            <a:off x="396181" y="790051"/>
            <a:ext cx="4541" cy="2268000"/>
          </a:xfrm>
          <a:prstGeom prst="line">
            <a:avLst/>
          </a:prstGeom>
          <a:ln w="12700" cap="flat">
            <a:solidFill>
              <a:schemeClr val="accent2">
                <a:lumMod val="60000"/>
                <a:lumOff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7" name="Group 70"/>
          <p:cNvGrpSpPr>
            <a:grpSpLocks noChangeAspect="1"/>
          </p:cNvGrpSpPr>
          <p:nvPr/>
        </p:nvGrpSpPr>
        <p:grpSpPr>
          <a:xfrm>
            <a:off x="350204" y="761876"/>
            <a:ext cx="100341" cy="100341"/>
            <a:chOff x="0" y="0"/>
            <a:chExt cx="91491" cy="91491"/>
          </a:xfrm>
          <a:solidFill>
            <a:schemeClr val="bg1"/>
          </a:solidFill>
        </p:grpSpPr>
        <p:sp>
          <p:nvSpPr>
            <p:cNvPr id="18" name="Freeform 71"/>
            <p:cNvSpPr/>
            <p:nvPr/>
          </p:nvSpPr>
          <p:spPr>
            <a:xfrm>
              <a:off x="0" y="0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91440" y="45720"/>
                  </a:move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4" name="文字方塊 3"/>
          <p:cNvSpPr txBox="1"/>
          <p:nvPr/>
        </p:nvSpPr>
        <p:spPr>
          <a:xfrm>
            <a:off x="534645" y="678804"/>
            <a:ext cx="6750686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35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國高中 家教老師 </a:t>
            </a:r>
            <a:r>
              <a:rPr lang="en-US" altLang="zh-TW" sz="1350" dirty="0">
                <a:ea typeface="標楷體" panose="03000509000000000000" pitchFamily="65" charset="-120"/>
              </a:rPr>
              <a:t>2020</a:t>
            </a:r>
            <a:r>
              <a:rPr lang="en-US" altLang="zh-TW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至今</a:t>
            </a:r>
            <a:endParaRPr lang="en-US" altLang="zh-TW" sz="135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大一到至今都持續擔任家教老師，累積多年教學與溝通經驗。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教導國中數學及高中數學、物理、化學、生物，並協助學生建立自主學習態度與時間管理能力。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善於察覺學生的問題，並將複雜概念用淺顯易懂的方式說明。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教學經驗培養我的洞察力、應變力與溝通能力。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32" name="Group 70"/>
          <p:cNvGrpSpPr>
            <a:grpSpLocks noChangeAspect="1"/>
          </p:cNvGrpSpPr>
          <p:nvPr/>
        </p:nvGrpSpPr>
        <p:grpSpPr>
          <a:xfrm>
            <a:off x="350548" y="2466527"/>
            <a:ext cx="100341" cy="100341"/>
            <a:chOff x="0" y="0"/>
            <a:chExt cx="91491" cy="91491"/>
          </a:xfrm>
          <a:solidFill>
            <a:schemeClr val="bg1"/>
          </a:solidFill>
        </p:grpSpPr>
        <p:sp>
          <p:nvSpPr>
            <p:cNvPr id="33" name="Freeform 71"/>
            <p:cNvSpPr/>
            <p:nvPr/>
          </p:nvSpPr>
          <p:spPr>
            <a:xfrm>
              <a:off x="0" y="0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91440" y="45720"/>
                  </a:move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6" name="文字方塊 5"/>
          <p:cNvSpPr txBox="1"/>
          <p:nvPr/>
        </p:nvSpPr>
        <p:spPr>
          <a:xfrm>
            <a:off x="533365" y="2386513"/>
            <a:ext cx="6753246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物理系辦工讀生 </a:t>
            </a:r>
            <a:r>
              <a:rPr lang="en-US" altLang="zh-TW" sz="1350" dirty="0">
                <a:ea typeface="標楷體" panose="03000509000000000000" pitchFamily="65" charset="-120"/>
              </a:rPr>
              <a:t>2022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ea typeface="標楷體" panose="03000509000000000000" pitchFamily="65" charset="-120"/>
              </a:rPr>
              <a:t>協助系辦文書處理、行政協助。</a:t>
            </a:r>
            <a:endParaRPr lang="en-US" altLang="zh-TW" sz="1350" dirty="0">
              <a:ea typeface="標楷體" panose="03000509000000000000" pitchFamily="65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ea typeface="標楷體" panose="03000509000000000000" pitchFamily="65" charset="-120"/>
              </a:rPr>
              <a:t>在兼顧課業與專題的情況下，培養高效率與時間管理能力。</a:t>
            </a:r>
          </a:p>
          <a:p>
            <a:endParaRPr lang="en-US" altLang="zh-TW" sz="1350" dirty="0">
              <a:ea typeface="標楷體" panose="03000509000000000000" pitchFamily="65" charset="-120"/>
            </a:endParaRPr>
          </a:p>
          <a:p>
            <a:endParaRPr lang="zh-TW" altLang="en-US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42418" y="4841388"/>
            <a:ext cx="6661316" cy="9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35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系學會</a:t>
            </a:r>
            <a:r>
              <a:rPr lang="en-US" altLang="zh-TW" sz="1350" b="1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35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活動部副部長 </a:t>
            </a:r>
            <a:r>
              <a:rPr lang="en-US" altLang="zh-TW" sz="1350" dirty="0">
                <a:ea typeface="標楷體" panose="03000509000000000000" pitchFamily="65" charset="-120"/>
              </a:rPr>
              <a:t>2021-2022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帶領學弟妹舉辦系上及跨系活動，具備活動規劃與統籌經驗。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負責活動流程安排、團隊分工與現場協調，培養溝通與應變能力。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累積文案撰寫能力與活動主持經驗，提升表達與組織能力。</a:t>
            </a:r>
          </a:p>
        </p:txBody>
      </p:sp>
      <p:grpSp>
        <p:nvGrpSpPr>
          <p:cNvPr id="35" name="Group 70"/>
          <p:cNvGrpSpPr>
            <a:grpSpLocks noChangeAspect="1"/>
          </p:cNvGrpSpPr>
          <p:nvPr/>
        </p:nvGrpSpPr>
        <p:grpSpPr>
          <a:xfrm>
            <a:off x="345754" y="4929702"/>
            <a:ext cx="100341" cy="100341"/>
            <a:chOff x="0" y="0"/>
            <a:chExt cx="91491" cy="91491"/>
          </a:xfrm>
          <a:solidFill>
            <a:schemeClr val="bg1"/>
          </a:solidFill>
        </p:grpSpPr>
        <p:sp>
          <p:nvSpPr>
            <p:cNvPr id="36" name="Freeform 71"/>
            <p:cNvSpPr/>
            <p:nvPr/>
          </p:nvSpPr>
          <p:spPr>
            <a:xfrm>
              <a:off x="0" y="0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91440" y="45720"/>
                  </a:move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7" name="文字方塊 36"/>
          <p:cNvSpPr txBox="1"/>
          <p:nvPr/>
        </p:nvSpPr>
        <p:spPr>
          <a:xfrm>
            <a:off x="533365" y="3766894"/>
            <a:ext cx="666908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35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中友會</a:t>
            </a:r>
            <a:r>
              <a:rPr lang="en-US" altLang="zh-TW" sz="1350" b="1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35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迎新美輔組、火球組組長 </a:t>
            </a:r>
            <a:r>
              <a:rPr lang="en-US" altLang="zh-TW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2021</a:t>
            </a:r>
            <a:endParaRPr lang="en-US" altLang="zh-TW" sz="135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規劃迎新活動，學會活動時程安排、突發狀況應變及團隊協調能力。</a:t>
            </a:r>
            <a:endParaRPr lang="en-US" altLang="zh-TW" sz="13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350" dirty="0">
                <a:latin typeface="標楷體" panose="03000509000000000000" pitchFamily="65" charset="-120"/>
                <a:ea typeface="標楷體" panose="03000509000000000000" pitchFamily="65" charset="-120"/>
              </a:rPr>
              <a:t>擔任隊輔，協助大一生融入大學生活，培養領導力及交際應對能力。</a:t>
            </a:r>
          </a:p>
        </p:txBody>
      </p:sp>
      <p:grpSp>
        <p:nvGrpSpPr>
          <p:cNvPr id="38" name="Group 70"/>
          <p:cNvGrpSpPr>
            <a:grpSpLocks noChangeAspect="1"/>
          </p:cNvGrpSpPr>
          <p:nvPr/>
        </p:nvGrpSpPr>
        <p:grpSpPr>
          <a:xfrm>
            <a:off x="345954" y="3855242"/>
            <a:ext cx="100341" cy="100341"/>
            <a:chOff x="0" y="0"/>
            <a:chExt cx="91491" cy="91491"/>
          </a:xfrm>
          <a:solidFill>
            <a:schemeClr val="bg1"/>
          </a:solidFill>
        </p:grpSpPr>
        <p:sp>
          <p:nvSpPr>
            <p:cNvPr id="39" name="Freeform 71"/>
            <p:cNvSpPr/>
            <p:nvPr/>
          </p:nvSpPr>
          <p:spPr>
            <a:xfrm>
              <a:off x="0" y="0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91440" y="45720"/>
                  </a:move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5128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4547F-3C6B-88FE-7C1A-00B028CD9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>
            <a:extLst>
              <a:ext uri="{FF2B5EF4-FFF2-40B4-BE49-F238E27FC236}">
                <a16:creationId xmlns:a16="http://schemas.microsoft.com/office/drawing/2014/main" id="{3A80C917-11C3-A2F4-E1DB-9D890256DB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2" r="3360"/>
          <a:stretch>
            <a:fillRect/>
          </a:stretch>
        </p:blipFill>
        <p:spPr>
          <a:xfrm>
            <a:off x="339690" y="3059100"/>
            <a:ext cx="2887586" cy="219575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EF0B0BA-F2F6-8DC4-C9D5-8801DA736E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20" y="5449110"/>
            <a:ext cx="2753616" cy="192360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941C142-9999-DCCD-12B4-DB2A77B6180C}"/>
              </a:ext>
            </a:extLst>
          </p:cNvPr>
          <p:cNvSpPr/>
          <p:nvPr/>
        </p:nvSpPr>
        <p:spPr>
          <a:xfrm>
            <a:off x="120399" y="5086215"/>
            <a:ext cx="2268570" cy="337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菁英盃英文演講</a:t>
            </a:r>
            <a:r>
              <a:rPr lang="zh-TW" altLang="en-US" sz="1400" dirty="0">
                <a:solidFill>
                  <a:srgbClr val="0033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第二名</a:t>
            </a:r>
            <a:endParaRPr lang="en-US" altLang="zh-TW" sz="1400" dirty="0">
              <a:solidFill>
                <a:srgbClr val="0033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6A403D-8FCD-C1A9-1C15-02C792FE0636}"/>
              </a:ext>
            </a:extLst>
          </p:cNvPr>
          <p:cNvSpPr/>
          <p:nvPr/>
        </p:nvSpPr>
        <p:spPr>
          <a:xfrm>
            <a:off x="124428" y="393700"/>
            <a:ext cx="5394325" cy="340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TSBME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  <a:cs typeface="Calibri" panose="020F0502020204030204" pitchFamily="34" charset="0"/>
              </a:rPr>
              <a:t>研討會生醫資訊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口頭論文比賽</a:t>
            </a:r>
            <a:r>
              <a:rPr lang="zh-TW" altLang="en-US" sz="1400" dirty="0">
                <a:solidFill>
                  <a:srgbClr val="0033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特優</a:t>
            </a:r>
            <a:endParaRPr lang="en-US" altLang="zh-TW" sz="1400" dirty="0">
              <a:solidFill>
                <a:srgbClr val="0033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67B578-4D6A-9B8F-C20F-1A5D18053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20" y="782608"/>
            <a:ext cx="2720526" cy="205386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1DCCBE3-1A21-832E-2802-846EBE69F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691" y="5537081"/>
            <a:ext cx="2402676" cy="351271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3291AE6-0FA0-4C3E-EF57-E381FD6B7E3A}"/>
              </a:ext>
            </a:extLst>
          </p:cNvPr>
          <p:cNvSpPr txBox="1"/>
          <p:nvPr/>
        </p:nvSpPr>
        <p:spPr>
          <a:xfrm>
            <a:off x="4256125" y="5116850"/>
            <a:ext cx="2030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多益成績單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87C9A22-8A1C-663E-388A-97C78032284B}"/>
              </a:ext>
            </a:extLst>
          </p:cNvPr>
          <p:cNvSpPr txBox="1"/>
          <p:nvPr/>
        </p:nvSpPr>
        <p:spPr>
          <a:xfrm>
            <a:off x="4256125" y="2863495"/>
            <a:ext cx="3431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prstClr val="black"/>
                </a:solidFill>
                <a:ea typeface="標楷體" panose="03000509000000000000" pitchFamily="65" charset="-120"/>
              </a:rPr>
              <a:t>R</a:t>
            </a:r>
            <a:r>
              <a:rPr lang="zh-TW" altLang="en-US" sz="1400" dirty="0">
                <a:solidFill>
                  <a:prstClr val="black"/>
                </a:solidFill>
                <a:ea typeface="標楷體" panose="03000509000000000000" pitchFamily="65" charset="-120"/>
              </a:rPr>
              <a:t>語言修課證書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C6FA8A9-13BC-6563-56A4-F2A40164B8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2864" y="3358054"/>
            <a:ext cx="2956577" cy="1725903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6AF7B91E-1A1A-21B2-F5F3-5B5DE1C86BA0}"/>
              </a:ext>
            </a:extLst>
          </p:cNvPr>
          <p:cNvSpPr txBox="1"/>
          <p:nvPr/>
        </p:nvSpPr>
        <p:spPr>
          <a:xfrm>
            <a:off x="4258406" y="431319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資料科學修課證書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9E02C25-6427-F151-9886-2A055F4C3C6F}"/>
              </a:ext>
            </a:extLst>
          </p:cNvPr>
          <p:cNvSpPr txBox="1"/>
          <p:nvPr/>
        </p:nvSpPr>
        <p:spPr>
          <a:xfrm>
            <a:off x="220220" y="61987"/>
            <a:ext cx="1652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相關證明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6ADD2D5-C371-42F4-4B87-1B67AD3C015D}"/>
              </a:ext>
            </a:extLst>
          </p:cNvPr>
          <p:cNvSpPr txBox="1"/>
          <p:nvPr/>
        </p:nvSpPr>
        <p:spPr>
          <a:xfrm>
            <a:off x="120650" y="7363592"/>
            <a:ext cx="4314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ea typeface="標楷體" panose="03000509000000000000" pitchFamily="65" charset="-120"/>
              </a:rPr>
              <a:t>臺灣神經免疫醫學會研討會口頭論文比賽</a:t>
            </a:r>
            <a:r>
              <a:rPr lang="zh-TW" altLang="en-US" sz="1400" dirty="0">
                <a:solidFill>
                  <a:srgbClr val="0033CC"/>
                </a:solidFill>
                <a:ea typeface="標楷體" panose="03000509000000000000" pitchFamily="65" charset="-120"/>
              </a:rPr>
              <a:t>第二名</a:t>
            </a:r>
            <a:endParaRPr lang="en-US" altLang="zh-TW" sz="1400" dirty="0">
              <a:solidFill>
                <a:srgbClr val="0033CC"/>
              </a:solidFill>
              <a:ea typeface="標楷體" panose="03000509000000000000" pitchFamily="65" charset="-12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F7F7C713-1386-8230-86CA-AA7D78F6A75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0" b="3332"/>
          <a:stretch>
            <a:fillRect/>
          </a:stretch>
        </p:blipFill>
        <p:spPr>
          <a:xfrm>
            <a:off x="753457" y="7645072"/>
            <a:ext cx="2026961" cy="3023410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FED6FBFE-80BF-FC1A-7D4E-AEC789346EE3}"/>
              </a:ext>
            </a:extLst>
          </p:cNvPr>
          <p:cNvSpPr txBox="1"/>
          <p:nvPr/>
        </p:nvSpPr>
        <p:spPr>
          <a:xfrm>
            <a:off x="120399" y="2864841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生物醫學資訊所專題論文比賽</a:t>
            </a:r>
            <a:r>
              <a:rPr lang="zh-TW" altLang="en-US" sz="1400" dirty="0">
                <a:solidFill>
                  <a:srgbClr val="0033CC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第一名</a:t>
            </a:r>
            <a:endParaRPr lang="en-US" altLang="zh-TW" sz="1400" dirty="0">
              <a:solidFill>
                <a:srgbClr val="0033CC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A220EC70-3C1E-498D-2953-A509FA96E32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864" y="946587"/>
            <a:ext cx="2956284" cy="172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90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236319A-73C7-92FC-3C69-DD95AF9B4A95}"/>
              </a:ext>
            </a:extLst>
          </p:cNvPr>
          <p:cNvSpPr txBox="1"/>
          <p:nvPr/>
        </p:nvSpPr>
        <p:spPr>
          <a:xfrm>
            <a:off x="297180" y="530220"/>
            <a:ext cx="6477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TW" altLang="en-US" sz="1600" b="1" u="sng" dirty="0">
                <a:ea typeface="標楷體" panose="03000509000000000000" pitchFamily="65" charset="-120"/>
              </a:rPr>
              <a:t>多維度生醫資料整合與分析專案</a:t>
            </a:r>
          </a:p>
          <a:p>
            <a:r>
              <a:rPr lang="zh-TW" altLang="en-US" sz="1400" b="1" dirty="0">
                <a:ea typeface="標楷體" panose="03000509000000000000" pitchFamily="65" charset="-120"/>
              </a:rPr>
              <a:t>資料類型：</a:t>
            </a:r>
            <a:r>
              <a:rPr lang="zh-TW" altLang="en-US" sz="1400" dirty="0">
                <a:ea typeface="標楷體" panose="03000509000000000000" pitchFamily="65" charset="-120"/>
              </a:rPr>
              <a:t> 群體轉錄體資料、單細胞轉錄體資料</a:t>
            </a:r>
            <a:br>
              <a:rPr lang="en-US" altLang="zh-TW" sz="1400" dirty="0">
                <a:ea typeface="標楷體" panose="03000509000000000000" pitchFamily="65" charset="-120"/>
              </a:rPr>
            </a:br>
            <a:r>
              <a:rPr lang="zh-TW" altLang="en-US" sz="1400" b="1" dirty="0">
                <a:ea typeface="標楷體" panose="03000509000000000000" pitchFamily="65" charset="-120"/>
              </a:rPr>
              <a:t>使用工具： </a:t>
            </a:r>
            <a:r>
              <a:rPr lang="en-US" altLang="zh-TW" sz="1400" dirty="0">
                <a:ea typeface="標楷體" panose="03000509000000000000" pitchFamily="65" charset="-120"/>
              </a:rPr>
              <a:t>Linux</a:t>
            </a:r>
            <a:r>
              <a:rPr lang="zh-TW" altLang="en-US" sz="1400" dirty="0">
                <a:ea typeface="標楷體" panose="03000509000000000000" pitchFamily="65" charset="-120"/>
              </a:rPr>
              <a:t>、</a:t>
            </a:r>
            <a:r>
              <a:rPr lang="en-US" altLang="zh-TW" sz="1400" dirty="0">
                <a:ea typeface="標楷體" panose="03000509000000000000" pitchFamily="65" charset="-120"/>
              </a:rPr>
              <a:t>Python</a:t>
            </a:r>
            <a:r>
              <a:rPr lang="zh-TW" altLang="en-US" sz="1400" dirty="0">
                <a:ea typeface="標楷體" panose="03000509000000000000" pitchFamily="65" charset="-120"/>
              </a:rPr>
              <a:t>、</a:t>
            </a:r>
            <a:r>
              <a:rPr lang="en-US" altLang="zh-TW" sz="1400" dirty="0">
                <a:ea typeface="標楷體" panose="03000509000000000000" pitchFamily="65" charset="-120"/>
              </a:rPr>
              <a:t>R</a:t>
            </a:r>
            <a:br>
              <a:rPr lang="en-US" altLang="zh-TW" sz="1400" dirty="0">
                <a:ea typeface="標楷體" panose="03000509000000000000" pitchFamily="65" charset="-120"/>
              </a:rPr>
            </a:br>
            <a:r>
              <a:rPr lang="zh-TW" altLang="en-US" sz="1400" b="1" dirty="0">
                <a:ea typeface="標楷體" panose="03000509000000000000" pitchFamily="65" charset="-120"/>
              </a:rPr>
              <a:t>核心能力：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資料前處理、流程建置</a:t>
            </a:r>
            <a:r>
              <a:rPr lang="zh-TW" altLang="en-US" sz="1400" dirty="0">
                <a:ea typeface="標楷體" panose="03000509000000000000" pitchFamily="65" charset="-120"/>
              </a:rPr>
              <a:t>、統計分析、特徵篩選、資料視覺化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890593A-CF54-78C3-146A-E72CD21967E2}"/>
              </a:ext>
            </a:extLst>
          </p:cNvPr>
          <p:cNvSpPr txBox="1"/>
          <p:nvPr/>
        </p:nvSpPr>
        <p:spPr>
          <a:xfrm>
            <a:off x="273050" y="88900"/>
            <a:ext cx="3779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ea typeface="標楷體" panose="03000509000000000000" pitchFamily="65" charset="-120"/>
              </a:rPr>
              <a:t>專案經驗與成果展示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174EFEC-8C21-3383-016F-6B3B463C14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480" b="27668"/>
          <a:stretch>
            <a:fillRect/>
          </a:stretch>
        </p:blipFill>
        <p:spPr>
          <a:xfrm>
            <a:off x="330744" y="1664037"/>
            <a:ext cx="2802174" cy="2006263"/>
          </a:xfrm>
          <a:prstGeom prst="rect">
            <a:avLst/>
          </a:prstGeom>
        </p:spPr>
      </p:pic>
      <p:pic>
        <p:nvPicPr>
          <p:cNvPr id="7" name="圖片 6" descr="一張含有 文字, 圖表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082EAF50-BB8A-8320-0D5F-F4A6D043D6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9" t="47745" r="8375" b="11453"/>
          <a:stretch>
            <a:fillRect/>
          </a:stretch>
        </p:blipFill>
        <p:spPr bwMode="auto">
          <a:xfrm>
            <a:off x="3397250" y="1628042"/>
            <a:ext cx="3334930" cy="20782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A393538-AB9D-426D-1A32-A81FFDB7181C}"/>
              </a:ext>
            </a:extLst>
          </p:cNvPr>
          <p:cNvSpPr txBox="1"/>
          <p:nvPr/>
        </p:nvSpPr>
        <p:spPr>
          <a:xfrm>
            <a:off x="297180" y="3774315"/>
            <a:ext cx="7367270" cy="103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zh-TW" altLang="en-US" sz="1600" b="1" u="sng" dirty="0">
                <a:ea typeface="標楷體" panose="03000509000000000000" pitchFamily="65" charset="-120"/>
              </a:rPr>
              <a:t>高維度生醫資料分析與機器學習分類專案</a:t>
            </a:r>
          </a:p>
          <a:p>
            <a:r>
              <a:rPr lang="zh-TW" altLang="en-US" sz="1400" b="1" dirty="0">
                <a:ea typeface="標楷體" panose="03000509000000000000" pitchFamily="65" charset="-120"/>
              </a:rPr>
              <a:t>資料類型：</a:t>
            </a:r>
            <a:r>
              <a:rPr lang="zh-TW" altLang="en-US" sz="1400" dirty="0">
                <a:ea typeface="標楷體" panose="03000509000000000000" pitchFamily="65" charset="-120"/>
              </a:rPr>
              <a:t> 微小核糖核酸資料、核糖核酸資料</a:t>
            </a:r>
            <a:br>
              <a:rPr lang="en-US" altLang="zh-TW" sz="1400" dirty="0">
                <a:ea typeface="標楷體" panose="03000509000000000000" pitchFamily="65" charset="-120"/>
              </a:rPr>
            </a:br>
            <a:r>
              <a:rPr lang="zh-TW" altLang="en-US" sz="1400" b="1" dirty="0">
                <a:ea typeface="標楷體" panose="03000509000000000000" pitchFamily="65" charset="-120"/>
              </a:rPr>
              <a:t>使用工具： </a:t>
            </a:r>
            <a:r>
              <a:rPr lang="en-US" altLang="zh-TW" sz="1400" dirty="0">
                <a:ea typeface="標楷體" panose="03000509000000000000" pitchFamily="65" charset="-120"/>
              </a:rPr>
              <a:t>Python</a:t>
            </a:r>
            <a:r>
              <a:rPr lang="zh-TW" altLang="en-US" sz="1400" dirty="0">
                <a:ea typeface="標楷體" panose="03000509000000000000" pitchFamily="65" charset="-120"/>
              </a:rPr>
              <a:t>、</a:t>
            </a:r>
            <a:r>
              <a:rPr lang="en-US" altLang="zh-TW" sz="1400" dirty="0">
                <a:ea typeface="標楷體" panose="03000509000000000000" pitchFamily="65" charset="-120"/>
              </a:rPr>
              <a:t>R</a:t>
            </a:r>
            <a:br>
              <a:rPr lang="en-US" altLang="zh-TW" sz="1400" dirty="0">
                <a:ea typeface="標楷體" panose="03000509000000000000" pitchFamily="65" charset="-120"/>
              </a:rPr>
            </a:br>
            <a:r>
              <a:rPr lang="zh-TW" altLang="en-US" sz="1400" b="1" dirty="0">
                <a:ea typeface="標楷體" panose="03000509000000000000" pitchFamily="65" charset="-120"/>
              </a:rPr>
              <a:t>核心能力：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資料前處理、特徵篩選、機器學習分類、模型評估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D4391DB-2EFA-9765-FED9-24114F92E2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248" r="31849" b="5157"/>
          <a:stretch>
            <a:fillRect/>
          </a:stretch>
        </p:blipFill>
        <p:spPr>
          <a:xfrm>
            <a:off x="273050" y="4732129"/>
            <a:ext cx="5473831" cy="232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31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15947</TotalTime>
  <Words>1025</Words>
  <Application>Microsoft Office PowerPoint</Application>
  <PresentationFormat>自訂</PresentationFormat>
  <Paragraphs>110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Arial</vt:lpstr>
      <vt:lpstr>Calibri</vt:lpstr>
      <vt:lpstr>標楷體</vt:lpstr>
      <vt:lpstr>Wingdings</vt:lpstr>
      <vt:lpstr>Office Theme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Modern Professional CV Resume</dc:title>
  <dc:creator>ASUS</dc:creator>
  <cp:lastModifiedBy>陳怡蓁</cp:lastModifiedBy>
  <cp:revision>123</cp:revision>
  <dcterms:created xsi:type="dcterms:W3CDTF">2006-08-16T00:00:00Z</dcterms:created>
  <dcterms:modified xsi:type="dcterms:W3CDTF">2026-06-04T07:50:20Z</dcterms:modified>
  <dc:identifier>DAFsYNmJSmM</dc:identifier>
</cp:coreProperties>
</file>